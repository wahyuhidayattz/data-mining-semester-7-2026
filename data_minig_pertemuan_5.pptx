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9144000" cy="6858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8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2414397"/>
            <a:ext cx="7614919" cy="1367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142" y="210438"/>
            <a:ext cx="803371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5205" y="1550416"/>
            <a:ext cx="7219950" cy="361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414397"/>
            <a:ext cx="7150734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4261485" algn="l"/>
              </a:tabLst>
            </a:pPr>
            <a:r>
              <a:rPr sz="4400" spc="-9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l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g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orit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m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250" dirty="0">
                <a:solidFill>
                  <a:srgbClr val="675E46"/>
                </a:solidFill>
                <a:latin typeface="Cambria"/>
                <a:cs typeface="Cambria"/>
              </a:rPr>
              <a:t> 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p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r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i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or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i	:</a:t>
            </a:r>
            <a:r>
              <a:rPr sz="4400" spc="-200" dirty="0">
                <a:solidFill>
                  <a:srgbClr val="675E46"/>
                </a:solidFill>
                <a:latin typeface="Cambria"/>
                <a:cs typeface="Cambria"/>
              </a:rPr>
              <a:t> 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Ass</a:t>
            </a:r>
            <a:r>
              <a:rPr sz="4400" spc="-105" dirty="0">
                <a:solidFill>
                  <a:srgbClr val="675E46"/>
                </a:solidFill>
                <a:latin typeface="Cambria"/>
                <a:cs typeface="Cambria"/>
              </a:rPr>
              <a:t>o</a:t>
            </a:r>
            <a:r>
              <a:rPr sz="4400" spc="-110" dirty="0">
                <a:solidFill>
                  <a:srgbClr val="675E46"/>
                </a:solidFill>
                <a:latin typeface="Cambria"/>
                <a:cs typeface="Cambria"/>
              </a:rPr>
              <a:t>c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ia</a:t>
            </a:r>
            <a:r>
              <a:rPr sz="4400" spc="-114" dirty="0">
                <a:solidFill>
                  <a:srgbClr val="675E46"/>
                </a:solidFill>
                <a:latin typeface="Cambria"/>
                <a:cs typeface="Cambria"/>
              </a:rPr>
              <a:t>t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i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o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n  </a:t>
            </a:r>
            <a:r>
              <a:rPr sz="4400" spc="-180" dirty="0">
                <a:solidFill>
                  <a:srgbClr val="675E46"/>
                </a:solidFill>
                <a:latin typeface="Cambria"/>
                <a:cs typeface="Cambria"/>
              </a:rPr>
              <a:t>R</a:t>
            </a:r>
            <a:r>
              <a:rPr sz="4400" spc="-90" dirty="0">
                <a:solidFill>
                  <a:srgbClr val="675E46"/>
                </a:solidFill>
                <a:latin typeface="Cambria"/>
                <a:cs typeface="Cambria"/>
              </a:rPr>
              <a:t>u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l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e</a:t>
            </a:r>
            <a:r>
              <a:rPr sz="4400" spc="-215" dirty="0">
                <a:solidFill>
                  <a:srgbClr val="675E46"/>
                </a:solidFill>
                <a:latin typeface="Cambria"/>
                <a:cs typeface="Cambria"/>
              </a:rPr>
              <a:t> 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p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90" dirty="0">
                <a:solidFill>
                  <a:srgbClr val="675E46"/>
                </a:solidFill>
                <a:latin typeface="Cambria"/>
                <a:cs typeface="Cambria"/>
              </a:rPr>
              <a:t>d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220" dirty="0">
                <a:solidFill>
                  <a:srgbClr val="675E46"/>
                </a:solidFill>
                <a:latin typeface="Cambria"/>
                <a:cs typeface="Cambria"/>
              </a:rPr>
              <a:t> 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D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t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a</a:t>
            </a:r>
            <a:r>
              <a:rPr sz="4400" spc="-204" dirty="0">
                <a:solidFill>
                  <a:srgbClr val="675E46"/>
                </a:solidFill>
                <a:latin typeface="Cambria"/>
                <a:cs typeface="Cambria"/>
              </a:rPr>
              <a:t> </a:t>
            </a:r>
            <a:r>
              <a:rPr sz="4400" spc="-100" dirty="0">
                <a:solidFill>
                  <a:srgbClr val="675E46"/>
                </a:solidFill>
                <a:latin typeface="Cambria"/>
                <a:cs typeface="Cambria"/>
              </a:rPr>
              <a:t>M</a:t>
            </a:r>
            <a:r>
              <a:rPr sz="4400" spc="-95" dirty="0">
                <a:solidFill>
                  <a:srgbClr val="675E46"/>
                </a:solidFill>
                <a:latin typeface="Cambria"/>
                <a:cs typeface="Cambria"/>
              </a:rPr>
              <a:t>ini</a:t>
            </a:r>
            <a:r>
              <a:rPr sz="4400" spc="-105" dirty="0">
                <a:solidFill>
                  <a:srgbClr val="675E46"/>
                </a:solidFill>
                <a:latin typeface="Cambria"/>
                <a:cs typeface="Cambria"/>
              </a:rPr>
              <a:t>n</a:t>
            </a:r>
            <a:r>
              <a:rPr sz="4400" dirty="0">
                <a:solidFill>
                  <a:srgbClr val="675E46"/>
                </a:solidFill>
                <a:latin typeface="Cambria"/>
                <a:cs typeface="Cambria"/>
              </a:rPr>
              <a:t>g</a:t>
            </a:r>
            <a:endParaRPr sz="4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15238"/>
            <a:ext cx="5755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K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105" dirty="0"/>
              <a:t>s</a:t>
            </a:r>
            <a:r>
              <a:rPr spc="-100" dirty="0"/>
              <a:t>e</a:t>
            </a:r>
            <a:r>
              <a:rPr spc="-5" dirty="0"/>
              <a:t>p</a:t>
            </a:r>
            <a:r>
              <a:rPr spc="-225" dirty="0"/>
              <a:t> </a:t>
            </a:r>
            <a:r>
              <a:rPr spc="-105" dirty="0"/>
              <a:t>A</a:t>
            </a:r>
            <a:r>
              <a:rPr spc="-100" dirty="0"/>
              <a:t>l</a:t>
            </a:r>
            <a:r>
              <a:rPr spc="-105" dirty="0"/>
              <a:t>g</a:t>
            </a:r>
            <a:r>
              <a:rPr spc="-95" dirty="0"/>
              <a:t>o</a:t>
            </a:r>
            <a:r>
              <a:rPr spc="-100" dirty="0"/>
              <a:t>rit</a:t>
            </a:r>
            <a:r>
              <a:rPr spc="-110" dirty="0"/>
              <a:t>m</a:t>
            </a:r>
            <a:r>
              <a:rPr spc="-5" dirty="0"/>
              <a:t>a</a:t>
            </a:r>
            <a:r>
              <a:rPr spc="-215" dirty="0"/>
              <a:t> </a:t>
            </a:r>
            <a:r>
              <a:rPr spc="-125" dirty="0"/>
              <a:t>A</a:t>
            </a:r>
            <a:r>
              <a:rPr spc="-100" dirty="0"/>
              <a:t>pri</a:t>
            </a:r>
            <a:r>
              <a:rPr spc="-95" dirty="0"/>
              <a:t>o</a:t>
            </a:r>
            <a:r>
              <a:rPr spc="-100" dirty="0"/>
              <a:t>r</a:t>
            </a:r>
            <a:r>
              <a:rPr spc="-5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50125" cy="4184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Algoritma</a:t>
            </a:r>
            <a:r>
              <a:rPr sz="2200" spc="25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apriori</a:t>
            </a:r>
            <a:r>
              <a:rPr sz="2200" spc="25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merupakan</a:t>
            </a:r>
            <a:r>
              <a:rPr sz="2200" spc="2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salah</a:t>
            </a:r>
            <a:r>
              <a:rPr sz="2200" spc="2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satu</a:t>
            </a:r>
            <a:r>
              <a:rPr sz="2200" spc="2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algoritma</a:t>
            </a:r>
            <a:r>
              <a:rPr sz="2200" spc="2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klasik</a:t>
            </a:r>
            <a:r>
              <a:rPr sz="2200" spc="2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mining.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Algoritma apriori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digunakan agar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komputer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dapat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mempelajari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asosiasi,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mencari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pola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hubungan antar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satu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atau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lebih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dalam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dataset.</a:t>
            </a:r>
            <a:endParaRPr sz="2200">
              <a:latin typeface="Calibri"/>
              <a:cs typeface="Calibri"/>
            </a:endParaRPr>
          </a:p>
          <a:p>
            <a:pPr marL="241300" marR="5715" indent="-229235" algn="just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Algoritma apriori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digunakan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 atau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biasa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disebut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market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basket,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misalnya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sebuah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swalayan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memiliki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market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basket,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dengan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adanya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algoritma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apriori,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pemilik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swalayan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dapat mengetahui pola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pembelian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seorang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konsumen, jika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seorang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konsumen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 ,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B,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punya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kemungkinan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50% dia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 C,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pola ini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sangat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signifikan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adanya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selama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ini.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1230"/>
            <a:ext cx="69634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5" dirty="0"/>
              <a:t>K</a:t>
            </a:r>
            <a:r>
              <a:rPr sz="4800" spc="-95" dirty="0"/>
              <a:t>o</a:t>
            </a:r>
            <a:r>
              <a:rPr sz="4800" spc="-100" dirty="0"/>
              <a:t>n</a:t>
            </a:r>
            <a:r>
              <a:rPr sz="4800" spc="-95" dirty="0"/>
              <a:t>s</a:t>
            </a:r>
            <a:r>
              <a:rPr sz="4800" spc="-100" dirty="0"/>
              <a:t>e</a:t>
            </a:r>
            <a:r>
              <a:rPr sz="4800" dirty="0"/>
              <a:t>p</a:t>
            </a:r>
            <a:r>
              <a:rPr sz="4800" spc="-215" dirty="0"/>
              <a:t> </a:t>
            </a:r>
            <a:r>
              <a:rPr sz="4800" spc="-95" dirty="0"/>
              <a:t>A</a:t>
            </a:r>
            <a:r>
              <a:rPr sz="4800" spc="-105" dirty="0"/>
              <a:t>l</a:t>
            </a:r>
            <a:r>
              <a:rPr sz="4800" spc="-100" dirty="0"/>
              <a:t>g</a:t>
            </a:r>
            <a:r>
              <a:rPr sz="4800" spc="-95" dirty="0"/>
              <a:t>ori</a:t>
            </a:r>
            <a:r>
              <a:rPr sz="4800" spc="-100" dirty="0"/>
              <a:t>t</a:t>
            </a:r>
            <a:r>
              <a:rPr sz="4800" spc="-95" dirty="0"/>
              <a:t>m</a:t>
            </a:r>
            <a:r>
              <a:rPr sz="4800" dirty="0"/>
              <a:t>a</a:t>
            </a:r>
            <a:r>
              <a:rPr sz="4800" spc="-220" dirty="0"/>
              <a:t> </a:t>
            </a:r>
            <a:r>
              <a:rPr sz="4800" spc="-114" dirty="0"/>
              <a:t>A</a:t>
            </a:r>
            <a:r>
              <a:rPr sz="4800" spc="-95" dirty="0"/>
              <a:t>pri</a:t>
            </a:r>
            <a:r>
              <a:rPr sz="4800" spc="-105" dirty="0"/>
              <a:t>or</a:t>
            </a:r>
            <a:r>
              <a:rPr sz="4800" dirty="0"/>
              <a:t>i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887851" y="1616405"/>
            <a:ext cx="41103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  <a:tab pos="2181225" algn="l"/>
                <a:tab pos="3014980" algn="l"/>
              </a:tabLst>
            </a:pP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aturan	</a:t>
            </a: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assosiatif	dapat	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diketahui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1616405"/>
            <a:ext cx="3097530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  <a:tab pos="1283335" algn="l"/>
                <a:tab pos="2443480" algn="l"/>
              </a:tabLst>
            </a:pPr>
            <a:r>
              <a:rPr sz="2200" b="1" spc="-35" dirty="0">
                <a:solidFill>
                  <a:srgbClr val="2E2B1F"/>
                </a:solidFill>
                <a:latin typeface="Calibri"/>
                <a:cs typeface="Calibri"/>
              </a:rPr>
              <a:t>P</a:t>
            </a: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200" b="1" spc="-40" dirty="0">
                <a:solidFill>
                  <a:srgbClr val="2E2B1F"/>
                </a:solidFill>
                <a:latin typeface="Calibri"/>
                <a:cs typeface="Calibri"/>
              </a:rPr>
              <a:t>n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ing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idak</a:t>
            </a:r>
            <a:r>
              <a:rPr sz="2200" b="1" spc="-45" dirty="0">
                <a:solidFill>
                  <a:srgbClr val="2E2B1F"/>
                </a:solidFill>
                <a:latin typeface="Calibri"/>
                <a:cs typeface="Calibri"/>
              </a:rPr>
              <a:t>n</a:t>
            </a:r>
            <a:r>
              <a:rPr sz="2200" b="1" spc="-40" dirty="0">
                <a:solidFill>
                  <a:srgbClr val="2E2B1F"/>
                </a:solidFill>
                <a:latin typeface="Calibri"/>
                <a:cs typeface="Calibri"/>
              </a:rPr>
              <a:t>y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su</a:t>
            </a:r>
            <a:r>
              <a:rPr sz="2200" b="1" spc="-4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u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tabLst>
                <a:tab pos="1338580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dengan	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dua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9126" y="1952370"/>
            <a:ext cx="5338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8765" algn="l"/>
                <a:tab pos="2679700" algn="l"/>
                <a:tab pos="3479800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parameter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,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support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(nilai	penunjang)yaitu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40" y="2287650"/>
            <a:ext cx="7349490" cy="317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persentase</a:t>
            </a:r>
            <a:r>
              <a:rPr sz="2200" spc="9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kombinasi</a:t>
            </a:r>
            <a:r>
              <a:rPr sz="2200" spc="46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47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tersebut</a:t>
            </a:r>
            <a:r>
              <a:rPr sz="2200" spc="4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4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spc="47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database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dan confidence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(nilai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kepastian)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yaitu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kuatnya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hubungan antar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item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assosiatif.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Aturan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assosiatif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biasanya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dinyatakan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bentuk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{roti, </a:t>
            </a:r>
            <a:r>
              <a:rPr sz="2200" i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5" dirty="0">
                <a:solidFill>
                  <a:srgbClr val="2E2B1F"/>
                </a:solidFill>
                <a:latin typeface="Calibri"/>
                <a:cs typeface="Calibri"/>
              </a:rPr>
              <a:t>mentega}</a:t>
            </a:r>
            <a:r>
              <a:rPr sz="2200" i="1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-&gt;</a:t>
            </a:r>
            <a:r>
              <a:rPr sz="2200" i="1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{susu} (support</a:t>
            </a:r>
            <a:r>
              <a:rPr sz="2200" i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i="1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40%,</a:t>
            </a:r>
            <a:r>
              <a:rPr sz="2200" i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5" dirty="0">
                <a:solidFill>
                  <a:srgbClr val="2E2B1F"/>
                </a:solidFill>
                <a:latin typeface="Calibri"/>
                <a:cs typeface="Calibri"/>
              </a:rPr>
              <a:t>confidence</a:t>
            </a:r>
            <a:r>
              <a:rPr sz="2200" i="1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i="1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50%)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artinya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“Seorang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konsumen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membeli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roti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mentega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punya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kemungkinan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50%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juga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 susu.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Aturan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ini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cukup signifikan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karena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mewakili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40%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catatan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selama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ini.”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1230"/>
            <a:ext cx="69634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5" dirty="0"/>
              <a:t>K</a:t>
            </a:r>
            <a:r>
              <a:rPr sz="4800" spc="-95" dirty="0"/>
              <a:t>o</a:t>
            </a:r>
            <a:r>
              <a:rPr sz="4800" spc="-100" dirty="0"/>
              <a:t>n</a:t>
            </a:r>
            <a:r>
              <a:rPr sz="4800" spc="-95" dirty="0"/>
              <a:t>s</a:t>
            </a:r>
            <a:r>
              <a:rPr sz="4800" spc="-100" dirty="0"/>
              <a:t>e</a:t>
            </a:r>
            <a:r>
              <a:rPr sz="4800" dirty="0"/>
              <a:t>p</a:t>
            </a:r>
            <a:r>
              <a:rPr sz="4800" spc="-215" dirty="0"/>
              <a:t> </a:t>
            </a:r>
            <a:r>
              <a:rPr sz="4800" spc="-95" dirty="0"/>
              <a:t>A</a:t>
            </a:r>
            <a:r>
              <a:rPr sz="4800" spc="-105" dirty="0"/>
              <a:t>l</a:t>
            </a:r>
            <a:r>
              <a:rPr sz="4800" spc="-100" dirty="0"/>
              <a:t>g</a:t>
            </a:r>
            <a:r>
              <a:rPr sz="4800" spc="-95" dirty="0"/>
              <a:t>ori</a:t>
            </a:r>
            <a:r>
              <a:rPr sz="4800" spc="-100" dirty="0"/>
              <a:t>t</a:t>
            </a:r>
            <a:r>
              <a:rPr sz="4800" spc="-95" dirty="0"/>
              <a:t>m</a:t>
            </a:r>
            <a:r>
              <a:rPr sz="4800" dirty="0"/>
              <a:t>a</a:t>
            </a:r>
            <a:r>
              <a:rPr sz="4800" spc="-220" dirty="0"/>
              <a:t> </a:t>
            </a:r>
            <a:r>
              <a:rPr sz="4800" spc="-114" dirty="0"/>
              <a:t>A</a:t>
            </a:r>
            <a:r>
              <a:rPr sz="4800" spc="-95" dirty="0"/>
              <a:t>pri</a:t>
            </a:r>
            <a:r>
              <a:rPr sz="4800" spc="-105" dirty="0"/>
              <a:t>or</a:t>
            </a:r>
            <a:r>
              <a:rPr sz="4800" dirty="0"/>
              <a:t>i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50125" cy="3110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15" indent="-229235" algn="just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Analisis asosiasi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didefinisikan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proses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 menemukan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semua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assosiatif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memenuhi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syarat</a:t>
            </a:r>
            <a:r>
              <a:rPr sz="22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minimum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support (minimum support)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 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syarat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minimum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confidence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(minimum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confidence).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00000"/>
              </a:lnSpc>
              <a:spcBef>
                <a:spcPts val="535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45" dirty="0">
                <a:solidFill>
                  <a:srgbClr val="2E2B1F"/>
                </a:solidFill>
                <a:latin typeface="Calibri"/>
                <a:cs typeface="Calibri"/>
              </a:rPr>
              <a:t>Tetapi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 lain pihak Apriori memiliki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kelemahan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karena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harus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melakukan scan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database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setiap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kali iterasi,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sehingga waktu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diperlukan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bertambah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makin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banyak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iterasi.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Masalah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ini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dipecahkan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oleh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algoritma-algoritma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baru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seperti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FP-growth.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7994"/>
            <a:ext cx="647827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b="0" spc="-110" dirty="0">
                <a:latin typeface="Cambria"/>
                <a:cs typeface="Cambria"/>
              </a:rPr>
              <a:t>C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100" dirty="0">
                <a:latin typeface="Cambria"/>
                <a:cs typeface="Cambria"/>
              </a:rPr>
              <a:t>n</a:t>
            </a:r>
            <a:r>
              <a:rPr sz="4600" b="0" spc="-135" dirty="0">
                <a:latin typeface="Cambria"/>
                <a:cs typeface="Cambria"/>
              </a:rPr>
              <a:t>t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5" dirty="0">
                <a:latin typeface="Cambria"/>
                <a:cs typeface="Cambria"/>
              </a:rPr>
              <a:t>h</a:t>
            </a:r>
            <a:r>
              <a:rPr sz="4600" b="0" spc="-215" dirty="0">
                <a:latin typeface="Cambria"/>
                <a:cs typeface="Cambria"/>
              </a:rPr>
              <a:t> </a:t>
            </a:r>
            <a:r>
              <a:rPr sz="4600" b="0" spc="-180" dirty="0">
                <a:latin typeface="Cambria"/>
                <a:cs typeface="Cambria"/>
              </a:rPr>
              <a:t>P</a:t>
            </a:r>
            <a:r>
              <a:rPr sz="4600" b="0" spc="-105" dirty="0">
                <a:latin typeface="Cambria"/>
                <a:cs typeface="Cambria"/>
              </a:rPr>
              <a:t>e</a:t>
            </a:r>
            <a:r>
              <a:rPr sz="4600" b="0" spc="-100" dirty="0">
                <a:latin typeface="Cambria"/>
                <a:cs typeface="Cambria"/>
              </a:rPr>
              <a:t>n</a:t>
            </a:r>
            <a:r>
              <a:rPr sz="4600" b="0" spc="-105" dirty="0">
                <a:latin typeface="Cambria"/>
                <a:cs typeface="Cambria"/>
              </a:rPr>
              <a:t>e</a:t>
            </a:r>
            <a:r>
              <a:rPr sz="4600" b="0" spc="-195" dirty="0">
                <a:latin typeface="Cambria"/>
                <a:cs typeface="Cambria"/>
              </a:rPr>
              <a:t>r</a:t>
            </a:r>
            <a:r>
              <a:rPr sz="4600" b="0" spc="-105" dirty="0">
                <a:latin typeface="Cambria"/>
                <a:cs typeface="Cambria"/>
              </a:rPr>
              <a:t>apa</a:t>
            </a:r>
            <a:r>
              <a:rPr sz="4600" b="0" spc="-5" dirty="0">
                <a:latin typeface="Cambria"/>
                <a:cs typeface="Cambria"/>
              </a:rPr>
              <a:t>n</a:t>
            </a:r>
            <a:r>
              <a:rPr sz="4600" b="0" spc="-204" dirty="0">
                <a:latin typeface="Cambria"/>
                <a:cs typeface="Cambria"/>
              </a:rPr>
              <a:t> </a:t>
            </a:r>
            <a:r>
              <a:rPr sz="4600" b="0" spc="-95" dirty="0">
                <a:latin typeface="Cambria"/>
                <a:cs typeface="Cambria"/>
              </a:rPr>
              <a:t>A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110" dirty="0">
                <a:latin typeface="Cambria"/>
                <a:cs typeface="Cambria"/>
              </a:rPr>
              <a:t>i</a:t>
            </a:r>
            <a:r>
              <a:rPr sz="4600" b="0" spc="-105" dirty="0">
                <a:latin typeface="Cambria"/>
                <a:cs typeface="Cambria"/>
              </a:rPr>
              <a:t>a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5" dirty="0">
                <a:latin typeface="Cambria"/>
                <a:cs typeface="Cambria"/>
              </a:rPr>
              <a:t>i</a:t>
            </a:r>
            <a:endParaRPr sz="4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50759" cy="4050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Meletakkan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barang-barang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sering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bersamaan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posisi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berdekatan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atau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mudah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dijangkau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sehingga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diharapkan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pembeli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barang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lebih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banyak.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Cara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ini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dikembangkan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oleh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Wal-Mart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merupakan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salah</a:t>
            </a:r>
            <a:r>
              <a:rPr sz="2200" spc="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satu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pasar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swalayan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populer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di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Amerika.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Saat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itu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Wal-Mart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menganalisis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dimilikinya,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menemukan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bahwa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pada hari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Jumat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sore,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pembeli laki-laki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 popok,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ternyata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cenderung membeli </a:t>
            </a:r>
            <a:r>
              <a:rPr sz="2200" spc="-60" dirty="0">
                <a:solidFill>
                  <a:srgbClr val="2E2B1F"/>
                </a:solidFill>
                <a:latin typeface="Calibri"/>
                <a:cs typeface="Calibri"/>
              </a:rPr>
              <a:t>bir.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hasil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temuan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tersebut,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Wal-Mart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menempatkan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bir di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dekat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tempat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penjualan popok,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alhasil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penjualan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bir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meningkat.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Kasus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ini</a:t>
            </a:r>
            <a:r>
              <a:rPr sz="2200" spc="4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menjadi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terkenal, karena sebelumnya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tidak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menduga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ampuhnya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mining.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7994"/>
            <a:ext cx="647827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b="0" spc="-110" dirty="0">
                <a:latin typeface="Cambria"/>
                <a:cs typeface="Cambria"/>
              </a:rPr>
              <a:t>C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100" dirty="0">
                <a:latin typeface="Cambria"/>
                <a:cs typeface="Cambria"/>
              </a:rPr>
              <a:t>n</a:t>
            </a:r>
            <a:r>
              <a:rPr sz="4600" b="0" spc="-135" dirty="0">
                <a:latin typeface="Cambria"/>
                <a:cs typeface="Cambria"/>
              </a:rPr>
              <a:t>t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5" dirty="0">
                <a:latin typeface="Cambria"/>
                <a:cs typeface="Cambria"/>
              </a:rPr>
              <a:t>h</a:t>
            </a:r>
            <a:r>
              <a:rPr sz="4600" b="0" spc="-215" dirty="0">
                <a:latin typeface="Cambria"/>
                <a:cs typeface="Cambria"/>
              </a:rPr>
              <a:t> </a:t>
            </a:r>
            <a:r>
              <a:rPr sz="4600" b="0" spc="-180" dirty="0">
                <a:latin typeface="Cambria"/>
                <a:cs typeface="Cambria"/>
              </a:rPr>
              <a:t>P</a:t>
            </a:r>
            <a:r>
              <a:rPr sz="4600" b="0" spc="-105" dirty="0">
                <a:latin typeface="Cambria"/>
                <a:cs typeface="Cambria"/>
              </a:rPr>
              <a:t>e</a:t>
            </a:r>
            <a:r>
              <a:rPr sz="4600" b="0" spc="-100" dirty="0">
                <a:latin typeface="Cambria"/>
                <a:cs typeface="Cambria"/>
              </a:rPr>
              <a:t>n</a:t>
            </a:r>
            <a:r>
              <a:rPr sz="4600" b="0" spc="-105" dirty="0">
                <a:latin typeface="Cambria"/>
                <a:cs typeface="Cambria"/>
              </a:rPr>
              <a:t>e</a:t>
            </a:r>
            <a:r>
              <a:rPr sz="4600" b="0" spc="-195" dirty="0">
                <a:latin typeface="Cambria"/>
                <a:cs typeface="Cambria"/>
              </a:rPr>
              <a:t>r</a:t>
            </a:r>
            <a:r>
              <a:rPr sz="4600" b="0" spc="-105" dirty="0">
                <a:latin typeface="Cambria"/>
                <a:cs typeface="Cambria"/>
              </a:rPr>
              <a:t>apa</a:t>
            </a:r>
            <a:r>
              <a:rPr sz="4600" b="0" spc="-5" dirty="0">
                <a:latin typeface="Cambria"/>
                <a:cs typeface="Cambria"/>
              </a:rPr>
              <a:t>n</a:t>
            </a:r>
            <a:r>
              <a:rPr sz="4600" b="0" spc="-204" dirty="0">
                <a:latin typeface="Cambria"/>
                <a:cs typeface="Cambria"/>
              </a:rPr>
              <a:t> </a:t>
            </a:r>
            <a:r>
              <a:rPr sz="4600" b="0" spc="-95" dirty="0">
                <a:latin typeface="Cambria"/>
                <a:cs typeface="Cambria"/>
              </a:rPr>
              <a:t>A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105" dirty="0">
                <a:latin typeface="Cambria"/>
                <a:cs typeface="Cambria"/>
              </a:rPr>
              <a:t>o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110" dirty="0">
                <a:latin typeface="Cambria"/>
                <a:cs typeface="Cambria"/>
              </a:rPr>
              <a:t>i</a:t>
            </a:r>
            <a:r>
              <a:rPr sz="4600" b="0" spc="-105" dirty="0">
                <a:latin typeface="Cambria"/>
                <a:cs typeface="Cambria"/>
              </a:rPr>
              <a:t>a</a:t>
            </a:r>
            <a:r>
              <a:rPr sz="4600" b="0" spc="-100" dirty="0">
                <a:latin typeface="Cambria"/>
                <a:cs typeface="Cambria"/>
              </a:rPr>
              <a:t>s</a:t>
            </a:r>
            <a:r>
              <a:rPr sz="4600" b="0" spc="-5" dirty="0">
                <a:latin typeface="Cambria"/>
                <a:cs typeface="Cambria"/>
              </a:rPr>
              <a:t>i</a:t>
            </a:r>
            <a:endParaRPr sz="4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4679950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  <a:tab pos="2705735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Amazon.com,	mengembangkan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tabLst>
                <a:tab pos="2649220" algn="l"/>
                <a:tab pos="3769360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(recommender),	yaitu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sebuah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8533" y="1616405"/>
            <a:ext cx="2212340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perekomendasi</a:t>
            </a:r>
            <a:endParaRPr sz="2200">
              <a:latin typeface="Calibri"/>
              <a:cs typeface="Calibri"/>
            </a:endParaRPr>
          </a:p>
          <a:p>
            <a:pPr marR="9525" algn="r">
              <a:lnSpc>
                <a:spcPct val="100000"/>
              </a:lnSpc>
              <a:spcBef>
                <a:spcPts val="5"/>
              </a:spcBef>
              <a:tabLst>
                <a:tab pos="1525270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</a:t>
            </a:r>
            <a:r>
              <a:rPr sz="2200" spc="-45" dirty="0">
                <a:solidFill>
                  <a:srgbClr val="2E2B1F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og</a:t>
            </a:r>
            <a:r>
              <a:rPr sz="2200" spc="-55" dirty="0">
                <a:solidFill>
                  <a:srgbClr val="2E2B1F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am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tuk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240" y="2287650"/>
            <a:ext cx="7350125" cy="2439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merekomendasikan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barang-barang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lain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kepada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pembeli pada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saat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pembeli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melakukan</a:t>
            </a:r>
            <a:r>
              <a:rPr sz="2200" spc="4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browsing</a:t>
            </a:r>
            <a:r>
              <a:rPr sz="2200" spc="4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atau</a:t>
            </a:r>
            <a:r>
              <a:rPr sz="2200" spc="4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membeli</a:t>
            </a:r>
            <a:r>
              <a:rPr sz="2200" spc="4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barang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berdasarkan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tingkat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(confidence).</a:t>
            </a:r>
            <a:endParaRPr sz="220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Google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mengembangkan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fitur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auto-complete,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yaitu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pemakai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mengetikkan suatu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kata, program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menampilkan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daftar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kata-kata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berikutnya,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paling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memiliki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asosiasi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kata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diketik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9600" marR="5080" indent="-1867535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95" dirty="0"/>
              <a:t>h</a:t>
            </a:r>
            <a:r>
              <a:rPr spc="-105" dirty="0"/>
              <a:t>-</a:t>
            </a:r>
            <a:r>
              <a:rPr spc="-10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5" dirty="0"/>
              <a:t>h</a:t>
            </a:r>
            <a:r>
              <a:rPr spc="-225" dirty="0"/>
              <a:t> </a:t>
            </a:r>
            <a:r>
              <a:rPr spc="-185" dirty="0"/>
              <a:t>y</a:t>
            </a:r>
            <a:r>
              <a:rPr spc="-105" dirty="0"/>
              <a:t>a</a:t>
            </a:r>
            <a:r>
              <a:rPr spc="-100" dirty="0"/>
              <a:t>n</a:t>
            </a:r>
            <a:r>
              <a:rPr spc="-5" dirty="0"/>
              <a:t>g</a:t>
            </a:r>
            <a:r>
              <a:rPr spc="-229" dirty="0"/>
              <a:t> </a:t>
            </a:r>
            <a:r>
              <a:rPr spc="-450" dirty="0"/>
              <a:t>T</a:t>
            </a:r>
            <a:r>
              <a:rPr spc="-100" dirty="0"/>
              <a:t>e</a:t>
            </a:r>
            <a:r>
              <a:rPr spc="-160" dirty="0"/>
              <a:t>r</a:t>
            </a:r>
            <a:r>
              <a:rPr spc="-100" dirty="0"/>
              <a:t>d</a:t>
            </a:r>
            <a:r>
              <a:rPr spc="-105" dirty="0"/>
              <a:t>a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5" dirty="0"/>
              <a:t>t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100" dirty="0"/>
              <a:t>d</a:t>
            </a:r>
            <a:r>
              <a:rPr spc="-5" dirty="0"/>
              <a:t>a  </a:t>
            </a:r>
            <a:r>
              <a:rPr spc="-105" dirty="0"/>
              <a:t>Ass</a:t>
            </a:r>
            <a:r>
              <a:rPr spc="-95" dirty="0"/>
              <a:t>o</a:t>
            </a:r>
            <a:r>
              <a:rPr spc="-105" dirty="0"/>
              <a:t>c</a:t>
            </a:r>
            <a:r>
              <a:rPr spc="-100" dirty="0"/>
              <a:t>i</a:t>
            </a:r>
            <a:r>
              <a:rPr spc="-105" dirty="0"/>
              <a:t>a</a:t>
            </a:r>
            <a:r>
              <a:rPr spc="-100" dirty="0"/>
              <a:t>ti</a:t>
            </a:r>
            <a:r>
              <a:rPr spc="-95" dirty="0"/>
              <a:t>o</a:t>
            </a:r>
            <a:r>
              <a:rPr spc="-5" dirty="0"/>
              <a:t>n</a:t>
            </a:r>
            <a:r>
              <a:rPr spc="-229" dirty="0"/>
              <a:t> </a:t>
            </a:r>
            <a:r>
              <a:rPr spc="-180" dirty="0"/>
              <a:t>R</a:t>
            </a:r>
            <a:r>
              <a:rPr spc="-100" dirty="0"/>
              <a:t>ul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246620" cy="451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1.</a:t>
            </a:r>
            <a:r>
              <a:rPr sz="2200" b="1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diteliti.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{Asparagus,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Beans,</a:t>
            </a:r>
            <a:r>
              <a:rPr sz="2200" i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…,</a:t>
            </a:r>
            <a:r>
              <a:rPr sz="2200" i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30" dirty="0">
                <a:solidFill>
                  <a:srgbClr val="2E2B1F"/>
                </a:solidFill>
                <a:latin typeface="Calibri"/>
                <a:cs typeface="Calibri"/>
              </a:rPr>
              <a:t>Tomatoes}</a:t>
            </a:r>
            <a:endParaRPr sz="2200">
              <a:latin typeface="Calibri"/>
              <a:cs typeface="Calibri"/>
            </a:endParaRPr>
          </a:p>
          <a:p>
            <a:pPr marL="241300" marR="5080" indent="-229235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2.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seluruh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digunakan.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20" dirty="0">
                <a:solidFill>
                  <a:srgbClr val="2E2B1F"/>
                </a:solidFill>
                <a:latin typeface="Calibri"/>
                <a:cs typeface="Calibri"/>
              </a:rPr>
              <a:t>{Transaksi</a:t>
            </a:r>
            <a:r>
              <a:rPr sz="2200" i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1,</a:t>
            </a:r>
            <a:r>
              <a:rPr sz="2200" i="1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i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2,</a:t>
            </a:r>
            <a:r>
              <a:rPr sz="2200" i="1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…,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transaksi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14}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2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3.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Proper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Subset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Himpunan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Bagian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murni.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endParaRPr sz="2200">
              <a:latin typeface="Calibri"/>
              <a:cs typeface="Calibri"/>
            </a:endParaRPr>
          </a:p>
          <a:p>
            <a:pPr marL="241300" marR="344487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 himpunan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A={a,b,c,} </a:t>
            </a:r>
            <a:r>
              <a:rPr sz="2200" i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Bagian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 adalah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 Kosong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2E2B1F"/>
                </a:solidFill>
                <a:latin typeface="Calibri"/>
                <a:cs typeface="Calibri"/>
              </a:rPr>
              <a:t>{} </a:t>
            </a:r>
            <a:r>
              <a:rPr sz="2200" i="1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Unsur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Calibri"/>
                <a:cs typeface="Calibri"/>
              </a:rPr>
              <a:t>{a},{b},{c}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2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Unsur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{a,b},{a,c},{b,c}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Unsur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=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Calibri"/>
                <a:cs typeface="Calibri"/>
              </a:rPr>
              <a:t>{a,b,c,}</a:t>
            </a:r>
            <a:endParaRPr sz="2200">
              <a:latin typeface="Calibri"/>
              <a:cs typeface="Calibri"/>
            </a:endParaRPr>
          </a:p>
          <a:p>
            <a:pPr marL="241300" marR="21590">
              <a:lnSpc>
                <a:spcPct val="100000"/>
              </a:lnSpc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Proper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subset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nya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Unsur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2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Unsur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142" y="210438"/>
            <a:ext cx="74390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9600" marR="5080" indent="-1867535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95" dirty="0"/>
              <a:t>h</a:t>
            </a:r>
            <a:r>
              <a:rPr spc="-105" dirty="0"/>
              <a:t>-</a:t>
            </a:r>
            <a:r>
              <a:rPr spc="-10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5" dirty="0"/>
              <a:t>h</a:t>
            </a:r>
            <a:r>
              <a:rPr spc="-229" dirty="0"/>
              <a:t> </a:t>
            </a:r>
            <a:r>
              <a:rPr spc="-180" dirty="0"/>
              <a:t>y</a:t>
            </a:r>
            <a:r>
              <a:rPr spc="-105" dirty="0"/>
              <a:t>a</a:t>
            </a:r>
            <a:r>
              <a:rPr spc="-100" dirty="0"/>
              <a:t>n</a:t>
            </a:r>
            <a:r>
              <a:rPr spc="-5" dirty="0"/>
              <a:t>g</a:t>
            </a:r>
            <a:r>
              <a:rPr spc="-225" dirty="0"/>
              <a:t> </a:t>
            </a:r>
            <a:r>
              <a:rPr spc="-450" dirty="0"/>
              <a:t>T</a:t>
            </a:r>
            <a:r>
              <a:rPr spc="-100" dirty="0"/>
              <a:t>e</a:t>
            </a:r>
            <a:r>
              <a:rPr spc="-160" dirty="0"/>
              <a:t>r</a:t>
            </a:r>
            <a:r>
              <a:rPr spc="-100" dirty="0"/>
              <a:t>d</a:t>
            </a:r>
            <a:r>
              <a:rPr spc="-105" dirty="0"/>
              <a:t>a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5" dirty="0"/>
              <a:t>t</a:t>
            </a:r>
            <a:r>
              <a:rPr spc="-220" dirty="0"/>
              <a:t> 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100" dirty="0"/>
              <a:t>d</a:t>
            </a:r>
            <a:r>
              <a:rPr spc="-5" dirty="0"/>
              <a:t>a  </a:t>
            </a:r>
            <a:r>
              <a:rPr spc="-105" dirty="0"/>
              <a:t>Ass</a:t>
            </a:r>
            <a:r>
              <a:rPr spc="-95" dirty="0"/>
              <a:t>o</a:t>
            </a:r>
            <a:r>
              <a:rPr spc="-105" dirty="0"/>
              <a:t>c</a:t>
            </a:r>
            <a:r>
              <a:rPr spc="-100" dirty="0"/>
              <a:t>i</a:t>
            </a:r>
            <a:r>
              <a:rPr spc="-105" dirty="0"/>
              <a:t>a</a:t>
            </a:r>
            <a:r>
              <a:rPr spc="-100" dirty="0"/>
              <a:t>ti</a:t>
            </a:r>
            <a:r>
              <a:rPr spc="-95" dirty="0"/>
              <a:t>o</a:t>
            </a:r>
            <a:r>
              <a:rPr spc="-5" dirty="0"/>
              <a:t>n</a:t>
            </a:r>
            <a:r>
              <a:rPr spc="-235" dirty="0"/>
              <a:t> </a:t>
            </a:r>
            <a:r>
              <a:rPr spc="-180" dirty="0"/>
              <a:t>R</a:t>
            </a:r>
            <a:r>
              <a:rPr spc="-100" dirty="0"/>
              <a:t>ul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709"/>
            <a:ext cx="7293609" cy="472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dirty="0">
                <a:solidFill>
                  <a:srgbClr val="2E2B1F"/>
                </a:solidFill>
                <a:latin typeface="Calibri"/>
                <a:cs typeface="Calibri"/>
              </a:rPr>
              <a:t>4.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Item set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atau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item-item</a:t>
            </a:r>
            <a:r>
              <a:rPr sz="2000" spc="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E.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endParaRPr sz="2000">
              <a:latin typeface="Calibri"/>
              <a:cs typeface="Calibri"/>
            </a:endParaRPr>
          </a:p>
          <a:p>
            <a:pPr marL="241300" marR="2493010">
              <a:lnSpc>
                <a:spcPct val="100000"/>
              </a:lnSpc>
            </a:pP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suatu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himpunan </a:t>
            </a:r>
            <a:r>
              <a:rPr sz="2000" i="1" dirty="0">
                <a:solidFill>
                  <a:srgbClr val="2E2B1F"/>
                </a:solidFill>
                <a:latin typeface="Calibri"/>
                <a:cs typeface="Calibri"/>
              </a:rPr>
              <a:t>E={a,b,c,}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,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Item set </a:t>
            </a:r>
            <a:r>
              <a:rPr sz="2000" spc="-25" dirty="0">
                <a:solidFill>
                  <a:srgbClr val="2E2B1F"/>
                </a:solidFill>
                <a:latin typeface="Calibri"/>
                <a:cs typeface="Calibri"/>
              </a:rPr>
              <a:t>nya </a:t>
            </a:r>
            <a:r>
              <a:rPr sz="2000" spc="-4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 </a:t>
            </a:r>
            <a:r>
              <a:rPr sz="2000" i="1" spc="-5" dirty="0">
                <a:solidFill>
                  <a:srgbClr val="2E2B1F"/>
                </a:solidFill>
                <a:latin typeface="Calibri"/>
                <a:cs typeface="Calibri"/>
              </a:rPr>
              <a:t>{a};{b}:{c};{a,b};{a,c};{b,c}</a:t>
            </a:r>
            <a:endParaRPr sz="2000">
              <a:latin typeface="Calibri"/>
              <a:cs typeface="Calibri"/>
            </a:endParaRPr>
          </a:p>
          <a:p>
            <a:pPr marL="241300" marR="64135" indent="-229235">
              <a:lnSpc>
                <a:spcPct val="100000"/>
              </a:lnSpc>
              <a:spcBef>
                <a:spcPts val="48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dirty="0">
                <a:solidFill>
                  <a:srgbClr val="2E2B1F"/>
                </a:solidFill>
                <a:latin typeface="Calibri"/>
                <a:cs typeface="Calibri"/>
              </a:rPr>
              <a:t>5.</a:t>
            </a:r>
            <a:r>
              <a:rPr sz="20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K-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terdiri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K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buah</a:t>
            </a:r>
            <a:r>
              <a:rPr sz="20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 </a:t>
            </a:r>
            <a:r>
              <a:rPr sz="2000" spc="-4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pada E.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Intinya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K itu adalah jumlah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unsur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terdapat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pada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suatu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Himpunan.</a:t>
            </a:r>
            <a:r>
              <a:rPr sz="20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r>
              <a:rPr sz="20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2-item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bersifat</a:t>
            </a:r>
            <a:r>
              <a:rPr sz="20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unsur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2E2B1F"/>
                </a:solidFill>
                <a:latin typeface="Calibri"/>
                <a:cs typeface="Calibri"/>
              </a:rPr>
              <a:t>{a,b},{a,c},{b,c}.</a:t>
            </a:r>
            <a:endParaRPr sz="2000">
              <a:latin typeface="Calibri"/>
              <a:cs typeface="Calibri"/>
            </a:endParaRPr>
          </a:p>
          <a:p>
            <a:pPr marL="241300" marR="53975" indent="-229235">
              <a:lnSpc>
                <a:spcPct val="100000"/>
              </a:lnSpc>
              <a:spcBef>
                <a:spcPts val="48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b="1" dirty="0">
                <a:solidFill>
                  <a:srgbClr val="2E2B1F"/>
                </a:solidFill>
                <a:latin typeface="Calibri"/>
                <a:cs typeface="Calibri"/>
              </a:rPr>
              <a:t>6.</a:t>
            </a:r>
            <a:r>
              <a:rPr sz="20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Item set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Frekuensi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Jumlah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mengandung </a:t>
            </a:r>
            <a:r>
              <a:rPr sz="2000" spc="-4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jumlah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tertentu.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Intinya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jumlah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 transaksi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membeli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suatu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set.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Contoh: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Kita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gunakan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penjualan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sayur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di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atas</a:t>
            </a:r>
            <a:endParaRPr sz="2000">
              <a:latin typeface="Calibri"/>
              <a:cs typeface="Calibri"/>
            </a:endParaRPr>
          </a:p>
          <a:p>
            <a:pPr marL="241300" marR="554355" lvl="1">
              <a:lnSpc>
                <a:spcPct val="100000"/>
              </a:lnSpc>
              <a:buChar char="–"/>
              <a:tabLst>
                <a:tab pos="426084" algn="l"/>
              </a:tabLst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frekuensi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Item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sekaligus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membeli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Beans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0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Brocolli </a:t>
            </a:r>
            <a:r>
              <a:rPr sz="2000" spc="-4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425450" lvl="1" indent="-184785">
              <a:lnSpc>
                <a:spcPct val="100000"/>
              </a:lnSpc>
              <a:buChar char="–"/>
              <a:tabLst>
                <a:tab pos="426084" algn="l"/>
              </a:tabLst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frekuensi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membeli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sekaligus</a:t>
            </a:r>
            <a:r>
              <a:rPr sz="2000" spc="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membeli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Beans,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Squash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2E2B1F"/>
                </a:solidFill>
                <a:latin typeface="Calibri"/>
                <a:cs typeface="Calibri"/>
              </a:rPr>
              <a:t>Tomatoes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2.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142" y="210438"/>
            <a:ext cx="74390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9600" marR="5080" indent="-1867535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95" dirty="0"/>
              <a:t>h</a:t>
            </a:r>
            <a:r>
              <a:rPr spc="-105" dirty="0"/>
              <a:t>-</a:t>
            </a:r>
            <a:r>
              <a:rPr spc="-100" dirty="0"/>
              <a:t>i</a:t>
            </a:r>
            <a:r>
              <a:rPr spc="-105" dirty="0"/>
              <a:t>s</a:t>
            </a:r>
            <a:r>
              <a:rPr spc="-100" dirty="0"/>
              <a:t>til</a:t>
            </a:r>
            <a:r>
              <a:rPr spc="-105" dirty="0"/>
              <a:t>a</a:t>
            </a:r>
            <a:r>
              <a:rPr spc="-5" dirty="0"/>
              <a:t>h</a:t>
            </a:r>
            <a:r>
              <a:rPr spc="-229" dirty="0"/>
              <a:t> </a:t>
            </a:r>
            <a:r>
              <a:rPr spc="-180" dirty="0"/>
              <a:t>y</a:t>
            </a:r>
            <a:r>
              <a:rPr spc="-105" dirty="0"/>
              <a:t>a</a:t>
            </a:r>
            <a:r>
              <a:rPr spc="-100" dirty="0"/>
              <a:t>n</a:t>
            </a:r>
            <a:r>
              <a:rPr spc="-5" dirty="0"/>
              <a:t>g</a:t>
            </a:r>
            <a:r>
              <a:rPr spc="-225" dirty="0"/>
              <a:t> </a:t>
            </a:r>
            <a:r>
              <a:rPr spc="-450" dirty="0"/>
              <a:t>T</a:t>
            </a:r>
            <a:r>
              <a:rPr spc="-100" dirty="0"/>
              <a:t>e</a:t>
            </a:r>
            <a:r>
              <a:rPr spc="-160" dirty="0"/>
              <a:t>r</a:t>
            </a:r>
            <a:r>
              <a:rPr spc="-100" dirty="0"/>
              <a:t>d</a:t>
            </a:r>
            <a:r>
              <a:rPr spc="-105" dirty="0"/>
              <a:t>a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5" dirty="0"/>
              <a:t>t</a:t>
            </a:r>
            <a:r>
              <a:rPr spc="-220" dirty="0"/>
              <a:t> </a:t>
            </a:r>
            <a:r>
              <a:rPr spc="-100" dirty="0"/>
              <a:t>p</a:t>
            </a:r>
            <a:r>
              <a:rPr spc="-105" dirty="0"/>
              <a:t>a</a:t>
            </a:r>
            <a:r>
              <a:rPr spc="-100" dirty="0"/>
              <a:t>d</a:t>
            </a:r>
            <a:r>
              <a:rPr spc="-5" dirty="0"/>
              <a:t>a  </a:t>
            </a:r>
            <a:r>
              <a:rPr spc="-105" dirty="0"/>
              <a:t>Ass</a:t>
            </a:r>
            <a:r>
              <a:rPr spc="-95" dirty="0"/>
              <a:t>o</a:t>
            </a:r>
            <a:r>
              <a:rPr spc="-105" dirty="0"/>
              <a:t>c</a:t>
            </a:r>
            <a:r>
              <a:rPr spc="-100" dirty="0"/>
              <a:t>i</a:t>
            </a:r>
            <a:r>
              <a:rPr spc="-105" dirty="0"/>
              <a:t>a</a:t>
            </a:r>
            <a:r>
              <a:rPr spc="-100" dirty="0"/>
              <a:t>ti</a:t>
            </a:r>
            <a:r>
              <a:rPr spc="-95" dirty="0"/>
              <a:t>o</a:t>
            </a:r>
            <a:r>
              <a:rPr spc="-5" dirty="0"/>
              <a:t>n</a:t>
            </a:r>
            <a:r>
              <a:rPr spc="-235" dirty="0"/>
              <a:t> </a:t>
            </a:r>
            <a:r>
              <a:rPr spc="-180" dirty="0"/>
              <a:t>R</a:t>
            </a:r>
            <a:r>
              <a:rPr spc="-100" dirty="0"/>
              <a:t>ul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01230" cy="2440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1016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7.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Frekuen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set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muncul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sekurang-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kurangnya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“sekian”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kali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di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 (minimum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support). 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Kata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“sekian”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biasanya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simbolkan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2E2B1F"/>
                </a:solidFill>
                <a:latin typeface="Calibri"/>
                <a:cs typeface="Calibri"/>
              </a:rPr>
              <a:t>Ф.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Ф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merupakan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batas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transaksi.</a:t>
            </a:r>
            <a:endParaRPr sz="2200">
              <a:latin typeface="Calibri"/>
              <a:cs typeface="Calibri"/>
            </a:endParaRPr>
          </a:p>
          <a:p>
            <a:pPr marL="241300" marR="5080" indent="-229235">
              <a:lnSpc>
                <a:spcPct val="100000"/>
              </a:lnSpc>
              <a:spcBef>
                <a:spcPts val="53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8.</a:t>
            </a: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Fk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atau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K-itemset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semua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frekuen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Set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terdiri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item,</a:t>
            </a:r>
            <a:r>
              <a:rPr sz="2200" spc="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misalnya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beras,telur,minyak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3- 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itemset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(Dinotasikan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sebagai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K-itemset)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7994"/>
            <a:ext cx="471297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95" dirty="0"/>
              <a:t>C</a:t>
            </a:r>
            <a:r>
              <a:rPr sz="4600" spc="-105" dirty="0"/>
              <a:t>a</a:t>
            </a:r>
            <a:r>
              <a:rPr sz="4600" spc="-185" dirty="0"/>
              <a:t>r</a:t>
            </a:r>
            <a:r>
              <a:rPr sz="4600" spc="-5" dirty="0"/>
              <a:t>a</a:t>
            </a:r>
            <a:r>
              <a:rPr sz="4600" spc="-210" dirty="0"/>
              <a:t> </a:t>
            </a:r>
            <a:r>
              <a:rPr sz="4600" spc="-185" dirty="0"/>
              <a:t>K</a:t>
            </a:r>
            <a:r>
              <a:rPr sz="4600" spc="-105" dirty="0"/>
              <a:t>e</a:t>
            </a:r>
            <a:r>
              <a:rPr sz="4600" spc="-100" dirty="0"/>
              <a:t>rj</a:t>
            </a:r>
            <a:r>
              <a:rPr sz="4600" spc="-5" dirty="0"/>
              <a:t>a</a:t>
            </a:r>
            <a:r>
              <a:rPr sz="4600" spc="-195" dirty="0"/>
              <a:t> </a:t>
            </a:r>
            <a:r>
              <a:rPr sz="4600" spc="-120" dirty="0"/>
              <a:t>A</a:t>
            </a:r>
            <a:r>
              <a:rPr sz="4600" spc="-100" dirty="0"/>
              <a:t>pr</a:t>
            </a:r>
            <a:r>
              <a:rPr sz="4600" spc="-110" dirty="0"/>
              <a:t>i</a:t>
            </a:r>
            <a:r>
              <a:rPr sz="4600" spc="-105" dirty="0"/>
              <a:t>o</a:t>
            </a:r>
            <a:r>
              <a:rPr sz="4600" spc="-100" dirty="0"/>
              <a:t>r</a:t>
            </a:r>
            <a:r>
              <a:rPr sz="4600" spc="-5" dirty="0"/>
              <a:t>i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650240" y="1555978"/>
            <a:ext cx="7349490" cy="44469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900" indent="-457834" algn="just">
              <a:lnSpc>
                <a:spcPct val="100000"/>
              </a:lnSpc>
              <a:spcBef>
                <a:spcPts val="340"/>
              </a:spcBef>
              <a:buClr>
                <a:srgbClr val="A9A47B"/>
              </a:buClr>
              <a:buAutoNum type="arabicParenR"/>
              <a:tabLst>
                <a:tab pos="470534" algn="l"/>
              </a:tabLst>
            </a:pPr>
            <a:r>
              <a:rPr sz="2000" spc="-30" dirty="0">
                <a:solidFill>
                  <a:srgbClr val="2E2B1F"/>
                </a:solidFill>
                <a:latin typeface="Calibri"/>
                <a:cs typeface="Calibri"/>
              </a:rPr>
              <a:t>Tentukan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support.</a:t>
            </a:r>
            <a:endParaRPr sz="2000">
              <a:latin typeface="Calibri"/>
              <a:cs typeface="Calibri"/>
            </a:endParaRPr>
          </a:p>
          <a:p>
            <a:pPr marL="469900" marR="6985" indent="-457834" algn="just">
              <a:lnSpc>
                <a:spcPts val="2160"/>
              </a:lnSpc>
              <a:spcBef>
                <a:spcPts val="515"/>
              </a:spcBef>
              <a:buClr>
                <a:srgbClr val="A9A47B"/>
              </a:buClr>
              <a:buAutoNum type="arabicParenR"/>
              <a:tabLst>
                <a:tab pos="470534" algn="l"/>
              </a:tabLst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Iterasi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1 :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hitung item-item dari support(transaksi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memuat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seluruh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item) dengan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men-scan database untuk 1-itemset,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setelah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1-itemset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didapatkan,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1-itemset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apakah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diatas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minimum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support,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apabila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telah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memenuhi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support,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1-itemset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tersebut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akan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menjadi</a:t>
            </a:r>
            <a:r>
              <a:rPr sz="20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pola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 frequent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tinggi.</a:t>
            </a:r>
            <a:endParaRPr sz="2000">
              <a:latin typeface="Calibri"/>
              <a:cs typeface="Calibri"/>
            </a:endParaRPr>
          </a:p>
          <a:p>
            <a:pPr marL="469900" marR="5080" indent="-457834" algn="just">
              <a:lnSpc>
                <a:spcPts val="2160"/>
              </a:lnSpc>
              <a:spcBef>
                <a:spcPts val="484"/>
              </a:spcBef>
              <a:buClr>
                <a:srgbClr val="A9A47B"/>
              </a:buClr>
              <a:buAutoNum type="arabicParenR"/>
              <a:tabLst>
                <a:tab pos="470534" algn="l"/>
              </a:tabLst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Iterasi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2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mendapatkan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2-itemset,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harus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dilakukan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kombinasi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k-itemset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sebelumnya,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kemudian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scan</a:t>
            </a:r>
            <a:r>
              <a:rPr sz="2000" spc="4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database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lagi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untuk hitung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item-item 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memuat support. itemset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memenuhi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minimum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akan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dipilih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sebagai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pola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frequent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tinggi</a:t>
            </a:r>
            <a:r>
              <a:rPr sz="20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kandidat.</a:t>
            </a:r>
            <a:endParaRPr sz="2000">
              <a:latin typeface="Calibri"/>
              <a:cs typeface="Calibri"/>
            </a:endParaRPr>
          </a:p>
          <a:p>
            <a:pPr marL="469900" marR="6350" indent="-457834" algn="just">
              <a:lnSpc>
                <a:spcPts val="2160"/>
              </a:lnSpc>
              <a:spcBef>
                <a:spcPts val="480"/>
              </a:spcBef>
              <a:buClr>
                <a:srgbClr val="A9A47B"/>
              </a:buClr>
              <a:buAutoNum type="arabicParenR"/>
              <a:tabLst>
                <a:tab pos="470534" algn="l"/>
              </a:tabLst>
            </a:pPr>
            <a:r>
              <a:rPr sz="2000" spc="-35" dirty="0">
                <a:solidFill>
                  <a:srgbClr val="2E2B1F"/>
                </a:solidFill>
                <a:latin typeface="Calibri"/>
                <a:cs typeface="Calibri"/>
              </a:rPr>
              <a:t>Tetapkan</a:t>
            </a:r>
            <a:r>
              <a:rPr sz="20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nilai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k-itemset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telah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 memenuhi </a:t>
            </a:r>
            <a:r>
              <a:rPr sz="2000" spc="-4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0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</a:t>
            </a:r>
            <a:r>
              <a:rPr sz="20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k-itemset.</a:t>
            </a:r>
            <a:endParaRPr sz="2000">
              <a:latin typeface="Calibri"/>
              <a:cs typeface="Calibri"/>
            </a:endParaRPr>
          </a:p>
          <a:p>
            <a:pPr marL="469900" marR="5715" indent="-457834" algn="just">
              <a:lnSpc>
                <a:spcPts val="2160"/>
              </a:lnSpc>
              <a:spcBef>
                <a:spcPts val="480"/>
              </a:spcBef>
              <a:buClr>
                <a:srgbClr val="A9A47B"/>
              </a:buClr>
              <a:buAutoNum type="arabicParenR"/>
              <a:tabLst>
                <a:tab pos="470534" algn="l"/>
              </a:tabLst>
            </a:pP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Lakukan proses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untuk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iterasi selanjutnya hingga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tidak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ada </a:t>
            </a:r>
            <a:r>
              <a:rPr sz="2000" dirty="0">
                <a:solidFill>
                  <a:srgbClr val="2E2B1F"/>
                </a:solidFill>
                <a:latin typeface="Calibri"/>
                <a:cs typeface="Calibri"/>
              </a:rPr>
              <a:t>lagi k- </a:t>
            </a:r>
            <a:r>
              <a:rPr sz="20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itemset</a:t>
            </a:r>
            <a:r>
              <a:rPr sz="20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0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memenuhi</a:t>
            </a:r>
            <a:r>
              <a:rPr sz="20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0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Calibri"/>
                <a:cs typeface="Calibri"/>
              </a:rPr>
              <a:t>support.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609" y="210438"/>
            <a:ext cx="72764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4715" marR="5080" indent="-215265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F</a:t>
            </a:r>
            <a:r>
              <a:rPr spc="-95" dirty="0"/>
              <a:t>or</a:t>
            </a:r>
            <a:r>
              <a:rPr spc="-110" dirty="0"/>
              <a:t>m</a:t>
            </a:r>
            <a:r>
              <a:rPr spc="-100" dirty="0"/>
              <a:t>u</a:t>
            </a:r>
            <a:r>
              <a:rPr spc="-95" dirty="0"/>
              <a:t>l</a:t>
            </a:r>
            <a:r>
              <a:rPr spc="-5" dirty="0"/>
              <a:t>a</a:t>
            </a:r>
            <a:r>
              <a:rPr spc="-245" dirty="0"/>
              <a:t> </a:t>
            </a:r>
            <a:r>
              <a:rPr spc="-200" dirty="0"/>
              <a:t>P</a:t>
            </a:r>
            <a:r>
              <a:rPr spc="-100" dirty="0"/>
              <a:t>en</a:t>
            </a:r>
            <a:r>
              <a:rPr spc="-105" dirty="0"/>
              <a:t>ca</a:t>
            </a:r>
            <a:r>
              <a:rPr spc="-100" dirty="0"/>
              <a:t>ri</a:t>
            </a:r>
            <a:r>
              <a:rPr spc="-105" dirty="0"/>
              <a:t>a</a:t>
            </a:r>
            <a:r>
              <a:rPr spc="-5" dirty="0"/>
              <a:t>n</a:t>
            </a:r>
            <a:r>
              <a:rPr spc="-220" dirty="0"/>
              <a:t> </a:t>
            </a:r>
            <a:r>
              <a:rPr spc="-105" dirty="0"/>
              <a:t>N</a:t>
            </a:r>
            <a:r>
              <a:rPr spc="-100" dirty="0"/>
              <a:t>il</a:t>
            </a:r>
            <a:r>
              <a:rPr spc="-105" dirty="0"/>
              <a:t>a</a:t>
            </a:r>
            <a:r>
              <a:rPr spc="-5" dirty="0"/>
              <a:t>i</a:t>
            </a:r>
            <a:r>
              <a:rPr spc="-220" dirty="0"/>
              <a:t> </a:t>
            </a:r>
            <a:r>
              <a:rPr spc="-105" dirty="0"/>
              <a:t>S</a:t>
            </a:r>
            <a:r>
              <a:rPr spc="-100" dirty="0"/>
              <a:t>upp</a:t>
            </a:r>
            <a:r>
              <a:rPr spc="-95" dirty="0"/>
              <a:t>o</a:t>
            </a:r>
            <a:r>
              <a:rPr spc="-100" dirty="0"/>
              <a:t>r</a:t>
            </a:r>
            <a:r>
              <a:rPr spc="-5" dirty="0"/>
              <a:t>t  &amp;</a:t>
            </a:r>
            <a:r>
              <a:rPr spc="-210" dirty="0"/>
              <a:t> </a:t>
            </a:r>
            <a:r>
              <a:rPr spc="-95" dirty="0"/>
              <a:t>Confidence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69583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Nilai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support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sebuah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item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diperoleh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rumus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berikut: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629025"/>
            <a:ext cx="66878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Sedangkan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nilai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support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2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diperoleh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rumus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berikut: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2133600"/>
            <a:ext cx="6449568" cy="13670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123" y="4756403"/>
            <a:ext cx="7682483" cy="1368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609" y="210438"/>
            <a:ext cx="72815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4715" marR="5080" indent="-2152650">
              <a:lnSpc>
                <a:spcPct val="100000"/>
              </a:lnSpc>
              <a:spcBef>
                <a:spcPts val="95"/>
              </a:spcBef>
            </a:pPr>
            <a:r>
              <a:rPr spc="-290" dirty="0"/>
              <a:t>F</a:t>
            </a:r>
            <a:r>
              <a:rPr spc="-95" dirty="0"/>
              <a:t>or</a:t>
            </a:r>
            <a:r>
              <a:rPr spc="-110" dirty="0"/>
              <a:t>m</a:t>
            </a:r>
            <a:r>
              <a:rPr spc="-100" dirty="0"/>
              <a:t>u</a:t>
            </a:r>
            <a:r>
              <a:rPr spc="-95" dirty="0"/>
              <a:t>l</a:t>
            </a:r>
            <a:r>
              <a:rPr spc="-5" dirty="0"/>
              <a:t>a</a:t>
            </a:r>
            <a:r>
              <a:rPr spc="-235" dirty="0"/>
              <a:t> </a:t>
            </a:r>
            <a:r>
              <a:rPr spc="-200" dirty="0"/>
              <a:t>P</a:t>
            </a:r>
            <a:r>
              <a:rPr spc="-100" dirty="0"/>
              <a:t>enc</a:t>
            </a:r>
            <a:r>
              <a:rPr spc="-105" dirty="0"/>
              <a:t>a</a:t>
            </a:r>
            <a:r>
              <a:rPr spc="-95" dirty="0"/>
              <a:t>ri</a:t>
            </a:r>
            <a:r>
              <a:rPr spc="-105" dirty="0"/>
              <a:t>a</a:t>
            </a:r>
            <a:r>
              <a:rPr spc="-5" dirty="0"/>
              <a:t>n</a:t>
            </a:r>
            <a:r>
              <a:rPr spc="-220" dirty="0"/>
              <a:t> </a:t>
            </a:r>
            <a:r>
              <a:rPr spc="-105" dirty="0"/>
              <a:t>N</a:t>
            </a:r>
            <a:r>
              <a:rPr spc="-95" dirty="0"/>
              <a:t>il</a:t>
            </a:r>
            <a:r>
              <a:rPr spc="-105" dirty="0"/>
              <a:t>a</a:t>
            </a:r>
            <a:r>
              <a:rPr spc="-5" dirty="0"/>
              <a:t>i</a:t>
            </a:r>
            <a:r>
              <a:rPr spc="-220" dirty="0"/>
              <a:t> </a:t>
            </a:r>
            <a:r>
              <a:rPr spc="-100" dirty="0"/>
              <a:t>Supp</a:t>
            </a:r>
            <a:r>
              <a:rPr spc="-95" dirty="0"/>
              <a:t>or</a:t>
            </a:r>
            <a:r>
              <a:rPr spc="-5" dirty="0"/>
              <a:t>t  &amp;</a:t>
            </a:r>
            <a:r>
              <a:rPr spc="-210" dirty="0"/>
              <a:t> </a:t>
            </a:r>
            <a:r>
              <a:rPr spc="-95" dirty="0"/>
              <a:t>Confidence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48220" cy="170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Setelah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semua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pola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frekuensi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tinggi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ditemukan, barulah dicari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assosiatif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memenuhi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syarat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minimum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confidence</a:t>
            </a:r>
            <a:r>
              <a:rPr sz="22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menghitung</a:t>
            </a:r>
            <a:r>
              <a:rPr sz="22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confidence</a:t>
            </a:r>
            <a:r>
              <a:rPr sz="2200" spc="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</a:t>
            </a:r>
            <a:r>
              <a:rPr sz="2200" spc="7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assosiatif</a:t>
            </a:r>
            <a:r>
              <a:rPr sz="22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endParaRPr sz="2200">
              <a:latin typeface="Calibri"/>
              <a:cs typeface="Calibri"/>
            </a:endParaRPr>
          </a:p>
          <a:p>
            <a:pPr marL="241300" marR="5080" algn="just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-&gt;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B.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Nilai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confidence dari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 -&gt; B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diperoleh dari rumus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berikut: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" y="3899915"/>
            <a:ext cx="8211311" cy="1440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9186" y="1616405"/>
            <a:ext cx="8280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4031360"/>
            <a:ext cx="7349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  <a:tab pos="1190625" algn="l"/>
                <a:tab pos="1771014" algn="l"/>
                <a:tab pos="3157220" algn="l"/>
                <a:tab pos="3822700" algn="l"/>
                <a:tab pos="5124450" algn="l"/>
                <a:tab pos="6013450" algn="l"/>
                <a:tab pos="6221095" algn="l"/>
                <a:tab pos="6835140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Golden	rule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esh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ld)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y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ang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digun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200" spc="-45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ah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60%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au 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barang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paling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sedikit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04" y="2133600"/>
            <a:ext cx="7911083" cy="1871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124700" cy="210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mempermudah,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nama-nama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1,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disingkat</a:t>
            </a:r>
            <a:endParaRPr sz="2200">
              <a:latin typeface="Calibri"/>
              <a:cs typeface="Calibri"/>
            </a:endParaRPr>
          </a:p>
          <a:p>
            <a:pPr marL="241300" marR="984885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diambil huruf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awalnya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saja,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sebagai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contoh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Mango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Onion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sebagainya.</a:t>
            </a:r>
            <a:endParaRPr sz="2200">
              <a:latin typeface="Calibri"/>
              <a:cs typeface="Calibri"/>
            </a:endParaRPr>
          </a:p>
          <a:p>
            <a:pPr marL="3271520">
              <a:lnSpc>
                <a:spcPct val="100000"/>
              </a:lnSpc>
              <a:spcBef>
                <a:spcPts val="530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3788664"/>
            <a:ext cx="8331708" cy="19446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294245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ke-1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Hitung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banyaknya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transaksi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setiap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item.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Hati-hati,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(Onion)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sebanyak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4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item,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namun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pembelian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hanya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transaksi.</a:t>
            </a:r>
            <a:endParaRPr sz="2200">
              <a:latin typeface="Calibri"/>
              <a:cs typeface="Calibri"/>
            </a:endParaRPr>
          </a:p>
          <a:p>
            <a:pPr marL="3271520">
              <a:lnSpc>
                <a:spcPct val="100000"/>
              </a:lnSpc>
              <a:spcBef>
                <a:spcPts val="53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39" y="3115054"/>
            <a:ext cx="4070604" cy="37078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50125" cy="210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 algn="just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ke-2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Berdasarkan golden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rule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telah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disebutkan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di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atas,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saring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data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3, 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hanya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memilih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memiliki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minimal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sebanyak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transaksi.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banyaknya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transaksi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kurang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3,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dibuang.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dapat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dilihat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4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berikut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:</a:t>
            </a:r>
            <a:endParaRPr sz="2200">
              <a:latin typeface="Calibri"/>
              <a:cs typeface="Calibri"/>
            </a:endParaRPr>
          </a:p>
          <a:p>
            <a:pPr marL="3271520" algn="just">
              <a:lnSpc>
                <a:spcPct val="100000"/>
              </a:lnSpc>
              <a:spcBef>
                <a:spcPts val="53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4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3933444"/>
            <a:ext cx="4287012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289165" cy="1769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ke-3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Buat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dimulai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pertama,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yaitu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MO,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MK,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90" dirty="0">
                <a:solidFill>
                  <a:srgbClr val="2E2B1F"/>
                </a:solidFill>
                <a:latin typeface="Calibri"/>
                <a:cs typeface="Calibri"/>
              </a:rPr>
              <a:t>MY.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Kemudian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dilanjutkan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dengan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kedua. Misalnya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OK, OE, </a:t>
            </a:r>
            <a:r>
              <a:rPr sz="2200" spc="-110" dirty="0">
                <a:solidFill>
                  <a:srgbClr val="2E2B1F"/>
                </a:solidFill>
                <a:latin typeface="Calibri"/>
                <a:cs typeface="Calibri"/>
              </a:rPr>
              <a:t>OY.</a:t>
            </a:r>
            <a:r>
              <a:rPr sz="2200" spc="-10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Perhatikan,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OM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tidak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dibuat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karena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OM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MO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(pasangan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yang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dibuat dari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pertama).</a:t>
            </a:r>
            <a:endParaRPr sz="2200">
              <a:latin typeface="Calibri"/>
              <a:cs typeface="Calibri"/>
            </a:endParaRPr>
          </a:p>
          <a:p>
            <a:pPr marL="3271520">
              <a:lnSpc>
                <a:spcPct val="100000"/>
              </a:lnSpc>
              <a:spcBef>
                <a:spcPts val="53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5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4472" y="3424428"/>
            <a:ext cx="2350007" cy="32720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348855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6350" indent="-228600" algn="r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28600" algn="l"/>
                <a:tab pos="2292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</a:t>
            </a:r>
            <a:r>
              <a:rPr sz="2200" b="1" spc="1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ke-4</a:t>
            </a:r>
            <a:r>
              <a:rPr sz="2200" b="1" spc="20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Hitung</a:t>
            </a:r>
            <a:r>
              <a:rPr sz="2200" spc="1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berapa</a:t>
            </a:r>
            <a:r>
              <a:rPr sz="2200" spc="20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kali</a:t>
            </a:r>
            <a:r>
              <a:rPr sz="2200" spc="20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suatu</a:t>
            </a:r>
            <a:r>
              <a:rPr sz="2200" spc="1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2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endParaRPr sz="2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bersamaan.</a:t>
            </a:r>
            <a:r>
              <a:rPr sz="22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Contohnya</a:t>
            </a:r>
            <a:r>
              <a:rPr sz="22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MO</a:t>
            </a:r>
            <a:r>
              <a:rPr sz="22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secara</a:t>
            </a:r>
            <a:r>
              <a:rPr sz="22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bersamaan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287650"/>
            <a:ext cx="25069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95985" algn="l"/>
                <a:tab pos="1442085" algn="l"/>
                <a:tab pos="1941830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itemset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{M,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</a:t>
            </a:r>
            <a:r>
              <a:rPr sz="2200" spc="-45" dirty="0">
                <a:solidFill>
                  <a:srgbClr val="2E2B1F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s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maan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s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eba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ny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9503" y="2287650"/>
            <a:ext cx="46094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435609" algn="l"/>
                <a:tab pos="869950" algn="l"/>
                <a:tab pos="1270635" algn="l"/>
                <a:tab pos="1662430" algn="l"/>
                <a:tab pos="2141220" algn="l"/>
                <a:tab pos="3394075" algn="l"/>
                <a:tab pos="3961129" algn="l"/>
              </a:tabLst>
            </a:pP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O,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N,	K,	E,	Y}.	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Pasangan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MK	dibeli</a:t>
            </a:r>
            <a:endParaRPr sz="220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  <a:tabLst>
                <a:tab pos="311785" algn="l"/>
                <a:tab pos="868044" algn="l"/>
                <a:tab pos="1598295" algn="l"/>
                <a:tab pos="1979295" algn="l"/>
                <a:tab pos="2849880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kali	yaitu	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	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dalam	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{M,O,N,K,E,Y},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40" y="2958211"/>
            <a:ext cx="7348220" cy="1099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{M,A,K,E},</a:t>
            </a:r>
            <a:r>
              <a:rPr sz="2200" spc="1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spc="11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{M,U,C,</a:t>
            </a:r>
            <a:r>
              <a:rPr sz="2200" spc="1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K,</a:t>
            </a:r>
            <a:r>
              <a:rPr sz="2200" spc="11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Y}.</a:t>
            </a:r>
            <a:r>
              <a:rPr sz="2200" spc="11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</a:t>
            </a:r>
            <a:r>
              <a:rPr sz="2200" spc="1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dapat</a:t>
            </a:r>
            <a:r>
              <a:rPr sz="2200" spc="1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dilihat</a:t>
            </a:r>
            <a:r>
              <a:rPr sz="2200" spc="1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1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6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berikut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4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6</a:t>
            </a:r>
            <a:r>
              <a:rPr sz="22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Wingdings"/>
                <a:cs typeface="Wingdings"/>
              </a:rPr>
              <a:t></a:t>
            </a:r>
            <a:endParaRPr sz="2200">
              <a:latin typeface="Wingdings"/>
              <a:cs typeface="Wingding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7751" y="3355846"/>
            <a:ext cx="3240024" cy="34457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087234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ke-5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Gunakan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golden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rule,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hapus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semua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banyaknya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kurang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tiga.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7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berikut</a:t>
            </a:r>
            <a:endParaRPr sz="2200">
              <a:latin typeface="Calibri"/>
              <a:cs typeface="Calibri"/>
            </a:endParaRPr>
          </a:p>
          <a:p>
            <a:pPr marL="3271520">
              <a:lnSpc>
                <a:spcPct val="100000"/>
              </a:lnSpc>
              <a:spcBef>
                <a:spcPts val="53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7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2492" y="2997707"/>
            <a:ext cx="416052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280275" cy="3244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9309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ke-6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Buat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tiga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menggunakan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7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memiliki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huruf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awal yang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sama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yaitu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: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3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•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E,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menjadi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OKE</a:t>
            </a:r>
            <a:endParaRPr sz="2200">
              <a:latin typeface="Calibri"/>
              <a:cs typeface="Calibri"/>
            </a:endParaRPr>
          </a:p>
          <a:p>
            <a:pPr marL="443865" lvl="1" indent="-203200">
              <a:lnSpc>
                <a:spcPct val="100000"/>
              </a:lnSpc>
              <a:buFont typeface="Calibri"/>
              <a:buChar char="•"/>
              <a:tabLst>
                <a:tab pos="444500" algn="l"/>
              </a:tabLst>
            </a:pP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 dan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100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-100" dirty="0">
                <a:solidFill>
                  <a:srgbClr val="2E2B1F"/>
                </a:solidFill>
                <a:latin typeface="Calibri"/>
                <a:cs typeface="Calibri"/>
              </a:rPr>
              <a:t>Y,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menjadi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KEY</a:t>
            </a:r>
            <a:endParaRPr sz="2200">
              <a:latin typeface="Calibri"/>
              <a:cs typeface="Calibri"/>
            </a:endParaRPr>
          </a:p>
          <a:p>
            <a:pPr marL="241300" marR="5080" indent="-229235">
              <a:lnSpc>
                <a:spcPct val="100000"/>
              </a:lnSpc>
              <a:spcBef>
                <a:spcPts val="53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Kemudian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hitung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beberapa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banyaknya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transaksi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tiga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berdasarkan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2.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dapat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dilihat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8.</a:t>
            </a:r>
            <a:endParaRPr sz="2200">
              <a:latin typeface="Calibri"/>
              <a:cs typeface="Calibri"/>
            </a:endParaRPr>
          </a:p>
          <a:p>
            <a:pPr marL="3271520">
              <a:lnSpc>
                <a:spcPct val="100000"/>
              </a:lnSpc>
              <a:spcBef>
                <a:spcPts val="525"/>
              </a:spcBef>
            </a:pP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Tabel</a:t>
            </a:r>
            <a:r>
              <a:rPr sz="22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8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339" y="5012435"/>
            <a:ext cx="3810000" cy="12100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150734" cy="210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785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Langkah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ke-7</a:t>
            </a:r>
            <a:r>
              <a:rPr sz="2200" b="1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Gunakan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lagi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golden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rule,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dengan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membuang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pasangan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tiga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banyaknya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kurang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dari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3.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tinggal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OKE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karena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KEY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hanya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bersamaan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dua </a:t>
            </a:r>
            <a:r>
              <a:rPr sz="2200" spc="-48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kali.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3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Kesimpulan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 :</a:t>
            </a:r>
            <a:r>
              <a:rPr sz="2200" b="1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Tiga</a:t>
            </a: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 item 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 sering</a:t>
            </a:r>
            <a:r>
              <a:rPr sz="2200" b="1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2E2B1F"/>
                </a:solidFill>
                <a:latin typeface="Calibri"/>
                <a:cs typeface="Calibri"/>
              </a:rPr>
              <a:t>bersamaan</a:t>
            </a:r>
            <a:r>
              <a:rPr sz="2200" b="1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b="1" spc="-25" dirty="0">
                <a:solidFill>
                  <a:srgbClr val="2E2B1F"/>
                </a:solidFill>
                <a:latin typeface="Calibri"/>
                <a:cs typeface="Calibri"/>
              </a:rPr>
              <a:t>O,</a:t>
            </a:r>
            <a:r>
              <a:rPr sz="2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K,</a:t>
            </a:r>
            <a:r>
              <a:rPr sz="2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2E2B1F"/>
                </a:solidFill>
                <a:latin typeface="Calibri"/>
                <a:cs typeface="Calibri"/>
              </a:rPr>
              <a:t>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004050" cy="4050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mengetahui</a:t>
            </a:r>
            <a:r>
              <a:rPr sz="2200" spc="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tingkat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keyakinan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(confidence),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frequent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itemset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(yaitu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{O,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E})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dapat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digunakan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untuk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mencari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aturan-aturan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asosiasi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antar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</a:t>
            </a:r>
            <a:r>
              <a:rPr sz="2200" spc="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frequent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itemset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tersebut.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Caranya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adalah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241300" marR="70485" lvl="1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16890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Itemset</a:t>
            </a:r>
            <a:r>
              <a:rPr sz="2200" spc="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dibuatkan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bagiannya.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Hasilnya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seperti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contoh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bawah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buChar char="•"/>
              <a:tabLst>
                <a:tab pos="44386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{O}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buChar char="•"/>
              <a:tabLst>
                <a:tab pos="443865" algn="l"/>
              </a:tabLst>
            </a:pP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{K}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buChar char="•"/>
              <a:tabLst>
                <a:tab pos="44386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{E}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buChar char="•"/>
              <a:tabLst>
                <a:tab pos="443865" algn="l"/>
              </a:tabLst>
            </a:pP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{O,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K}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spcBef>
                <a:spcPts val="5"/>
              </a:spcBef>
              <a:buChar char="•"/>
              <a:tabLst>
                <a:tab pos="443865" algn="l"/>
              </a:tabLst>
            </a:pP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{K,</a:t>
            </a:r>
            <a:r>
              <a:rPr sz="22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E}</a:t>
            </a:r>
            <a:endParaRPr sz="2200">
              <a:latin typeface="Calibri"/>
              <a:cs typeface="Calibri"/>
            </a:endParaRPr>
          </a:p>
          <a:p>
            <a:pPr marL="443230" indent="-202565">
              <a:lnSpc>
                <a:spcPct val="100000"/>
              </a:lnSpc>
              <a:buChar char="•"/>
              <a:tabLst>
                <a:tab pos="443865" algn="l"/>
              </a:tabLst>
            </a:pP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{O,</a:t>
            </a:r>
            <a:r>
              <a:rPr sz="22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E}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83234"/>
            <a:ext cx="7406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0" dirty="0">
                <a:latin typeface="Cambria"/>
                <a:cs typeface="Cambria"/>
              </a:rPr>
              <a:t>C</a:t>
            </a:r>
            <a:r>
              <a:rPr sz="4400" b="0" spc="-95" dirty="0">
                <a:latin typeface="Cambria"/>
                <a:cs typeface="Cambria"/>
              </a:rPr>
              <a:t>on</a:t>
            </a:r>
            <a:r>
              <a:rPr sz="4400" b="0" spc="-135" dirty="0">
                <a:latin typeface="Cambria"/>
                <a:cs typeface="Cambria"/>
              </a:rPr>
              <a:t>t</a:t>
            </a:r>
            <a:r>
              <a:rPr sz="4400" b="0" spc="-95" dirty="0">
                <a:latin typeface="Cambria"/>
                <a:cs typeface="Cambria"/>
              </a:rPr>
              <a:t>o</a:t>
            </a:r>
            <a:r>
              <a:rPr sz="4400" b="0" dirty="0">
                <a:latin typeface="Cambria"/>
                <a:cs typeface="Cambria"/>
              </a:rPr>
              <a:t>h</a:t>
            </a:r>
            <a:r>
              <a:rPr sz="4400" b="0" spc="-229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A</a:t>
            </a:r>
            <a:r>
              <a:rPr sz="4400" b="0" spc="-100" dirty="0">
                <a:latin typeface="Cambria"/>
                <a:cs typeface="Cambria"/>
              </a:rPr>
              <a:t>p</a:t>
            </a:r>
            <a:r>
              <a:rPr sz="4400" b="0" spc="-95" dirty="0">
                <a:latin typeface="Cambria"/>
                <a:cs typeface="Cambria"/>
              </a:rPr>
              <a:t>r</a:t>
            </a:r>
            <a:r>
              <a:rPr sz="4400" b="0" spc="-100" dirty="0">
                <a:latin typeface="Cambria"/>
                <a:cs typeface="Cambria"/>
              </a:rPr>
              <a:t>i</a:t>
            </a:r>
            <a:r>
              <a:rPr sz="4400" b="0" spc="-95" dirty="0">
                <a:latin typeface="Cambria"/>
                <a:cs typeface="Cambria"/>
              </a:rPr>
              <a:t>or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pa</a:t>
            </a:r>
            <a:r>
              <a:rPr sz="4400" b="0" spc="-95" dirty="0">
                <a:latin typeface="Cambria"/>
                <a:cs typeface="Cambria"/>
              </a:rPr>
              <a:t>d</a:t>
            </a:r>
            <a:r>
              <a:rPr sz="4400" b="0" dirty="0">
                <a:latin typeface="Cambria"/>
                <a:cs typeface="Cambria"/>
              </a:rPr>
              <a:t>a</a:t>
            </a:r>
            <a:r>
              <a:rPr sz="4400" b="0" spc="-220" dirty="0">
                <a:latin typeface="Cambria"/>
                <a:cs typeface="Cambria"/>
              </a:rPr>
              <a:t> </a:t>
            </a:r>
            <a:r>
              <a:rPr sz="4400" b="0" spc="-100" dirty="0">
                <a:latin typeface="Cambria"/>
                <a:cs typeface="Cambria"/>
              </a:rPr>
              <a:t>St</a:t>
            </a:r>
            <a:r>
              <a:rPr sz="4400" b="0" spc="-95" dirty="0">
                <a:latin typeface="Cambria"/>
                <a:cs typeface="Cambria"/>
              </a:rPr>
              <a:t>ud</a:t>
            </a:r>
            <a:r>
              <a:rPr sz="4400" b="0" dirty="0">
                <a:latin typeface="Cambria"/>
                <a:cs typeface="Cambria"/>
              </a:rPr>
              <a:t>i</a:t>
            </a:r>
            <a:r>
              <a:rPr sz="4400" b="0" spc="-225" dirty="0">
                <a:latin typeface="Cambria"/>
                <a:cs typeface="Cambria"/>
              </a:rPr>
              <a:t> </a:t>
            </a:r>
            <a:r>
              <a:rPr sz="4400" b="0" spc="-95" dirty="0">
                <a:latin typeface="Cambria"/>
                <a:cs typeface="Cambria"/>
              </a:rPr>
              <a:t>K</a:t>
            </a:r>
            <a:r>
              <a:rPr sz="4400" b="0" spc="-100" dirty="0">
                <a:latin typeface="Cambria"/>
                <a:cs typeface="Cambria"/>
              </a:rPr>
              <a:t>a</a:t>
            </a:r>
            <a:r>
              <a:rPr sz="4400" b="0" spc="-95" dirty="0">
                <a:latin typeface="Cambria"/>
                <a:cs typeface="Cambria"/>
              </a:rPr>
              <a:t>su</a:t>
            </a:r>
            <a:r>
              <a:rPr sz="4400" b="0" dirty="0">
                <a:latin typeface="Cambria"/>
                <a:cs typeface="Cambria"/>
              </a:rPr>
              <a:t>s</a:t>
            </a:r>
            <a:endParaRPr sz="4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240" y="1616405"/>
            <a:ext cx="7226300" cy="378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2. Cari asosiasi pada semua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himpunan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bagian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yang telah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dibuat,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misal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{O} =&gt;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{K,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E}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artinya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jika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O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dibeli,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bagaimana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kemungkinan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akan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sama.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O </a:t>
            </a:r>
            <a:r>
              <a:rPr sz="2200" spc="-4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pada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dalam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transaksi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tersebut,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K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dan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E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juga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dibeli.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Maka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53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{O}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=&gt;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{K,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E}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3/3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x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 =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100%.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{K}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=&gt;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{O,E}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3/5 x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 =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60%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{E} =&gt;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{O,K}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3/4 x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 =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75%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{K,E}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=&gt;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{O}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3/3 x 100% = 100%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{O,E}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=&gt;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{K}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3/3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x 100%</a:t>
            </a:r>
            <a:r>
              <a:rPr sz="22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solidFill>
                  <a:srgbClr val="2E2B1F"/>
                </a:solidFill>
                <a:latin typeface="Calibri"/>
                <a:cs typeface="Calibri"/>
              </a:rPr>
              <a:t>{O,K}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=&gt;</a:t>
            </a:r>
            <a:r>
              <a:rPr sz="22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{E}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E2B1F"/>
                </a:solidFill>
                <a:latin typeface="Calibri"/>
                <a:cs typeface="Calibri"/>
              </a:rPr>
              <a:t>keyakinannya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 adalah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3/3 x</a:t>
            </a:r>
            <a:r>
              <a:rPr sz="22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E2B1F"/>
                </a:solidFill>
                <a:latin typeface="Calibri"/>
                <a:cs typeface="Calibri"/>
              </a:rPr>
              <a:t>100% =</a:t>
            </a:r>
            <a:r>
              <a:rPr sz="2200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E2B1F"/>
                </a:solidFill>
                <a:latin typeface="Calibri"/>
                <a:cs typeface="Calibri"/>
              </a:rPr>
              <a:t>100%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7994"/>
            <a:ext cx="184340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b="0" spc="-90" dirty="0">
                <a:latin typeface="Cambria"/>
                <a:cs typeface="Cambria"/>
              </a:rPr>
              <a:t>Latihan</a:t>
            </a:r>
            <a:endParaRPr sz="4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5205" y="1550416"/>
          <a:ext cx="7219950" cy="361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1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1270" algn="ctr">
                        <a:lnSpc>
                          <a:spcPts val="2740"/>
                        </a:lnSpc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Transaction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9A47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740"/>
                        </a:lnSpc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Barang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yang</a:t>
                      </a:r>
                      <a:r>
                        <a:rPr sz="2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Dibeli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9A4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0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740"/>
                        </a:lnSpc>
                      </a:pP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M,</a:t>
                      </a:r>
                      <a:r>
                        <a:rPr sz="2400" spc="-2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O,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N,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K,</a:t>
                      </a:r>
                      <a:r>
                        <a:rPr sz="2400" spc="-2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E,</a:t>
                      </a:r>
                      <a:r>
                        <a:rPr sz="2400" spc="-2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0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2000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740"/>
                        </a:lnSpc>
                      </a:pP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D,</a:t>
                      </a:r>
                      <a:r>
                        <a:rPr sz="2400" spc="-3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O,</a:t>
                      </a: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N,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K,</a:t>
                      </a:r>
                      <a:r>
                        <a:rPr sz="2400" spc="-2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E,</a:t>
                      </a:r>
                      <a:r>
                        <a:rPr sz="2400" spc="-2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0"/>
                        </a:lnSpc>
                      </a:pP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4000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740"/>
                        </a:lnSpc>
                      </a:pP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M,</a:t>
                      </a:r>
                      <a:r>
                        <a:rPr sz="2400" spc="-2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2400" spc="-4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,K</a:t>
                      </a:r>
                      <a:r>
                        <a:rPr sz="2400" spc="-2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,E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0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5000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740"/>
                        </a:lnSpc>
                      </a:pP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M,</a:t>
                      </a:r>
                      <a:r>
                        <a:rPr sz="2400" spc="-2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U,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C,</a:t>
                      </a:r>
                      <a:r>
                        <a:rPr sz="2400" spc="-3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K,</a:t>
                      </a:r>
                      <a:r>
                        <a:rPr sz="2400" spc="-2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745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C,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O,</a:t>
                      </a: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O,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K,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I,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1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sz="2400" spc="-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7000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745"/>
                        </a:lnSpc>
                      </a:pP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D,</a:t>
                      </a:r>
                      <a:r>
                        <a:rPr sz="2400" spc="-3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O,</a:t>
                      </a: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N,</a:t>
                      </a:r>
                      <a:r>
                        <a:rPr sz="2400" spc="-1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M,</a:t>
                      </a:r>
                      <a:r>
                        <a:rPr sz="2400" spc="-35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O,</a:t>
                      </a:r>
                      <a:r>
                        <a:rPr sz="2400" spc="-1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solidFill>
                            <a:srgbClr val="2E2B1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90473" y="5536183"/>
            <a:ext cx="481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Calibri"/>
                <a:cs typeface="Calibri"/>
              </a:rPr>
              <a:t>Golden</a:t>
            </a:r>
            <a:r>
              <a:rPr sz="18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E2B1F"/>
                </a:solidFill>
                <a:latin typeface="Calibri"/>
                <a:cs typeface="Calibri"/>
              </a:rPr>
              <a:t>Rule</a:t>
            </a:r>
            <a:r>
              <a:rPr sz="18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E2B1F"/>
                </a:solidFill>
                <a:latin typeface="Calibri"/>
                <a:cs typeface="Calibri"/>
              </a:rPr>
              <a:t>nya</a:t>
            </a:r>
            <a:r>
              <a:rPr sz="1800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E2B1F"/>
                </a:solidFill>
                <a:latin typeface="Calibri"/>
                <a:cs typeface="Calibri"/>
              </a:rPr>
              <a:t>80%</a:t>
            </a:r>
            <a:r>
              <a:rPr sz="1800" spc="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Calibri"/>
                <a:cs typeface="Calibri"/>
              </a:rPr>
              <a:t>barang</a:t>
            </a:r>
            <a:r>
              <a:rPr sz="18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Calibri"/>
                <a:cs typeface="Calibri"/>
              </a:rPr>
              <a:t>yang</a:t>
            </a:r>
            <a:r>
              <a:rPr sz="18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2E2B1F"/>
                </a:solidFill>
                <a:latin typeface="Calibri"/>
                <a:cs typeface="Calibri"/>
              </a:rPr>
              <a:t>dibeli</a:t>
            </a:r>
            <a:r>
              <a:rPr sz="1800" spc="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E2B1F"/>
                </a:solidFill>
                <a:latin typeface="Calibri"/>
                <a:cs typeface="Calibri"/>
              </a:rPr>
              <a:t>sebanyak</a:t>
            </a:r>
            <a:r>
              <a:rPr sz="1800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E2B1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1833</Words>
  <Application>Microsoft Office PowerPoint</Application>
  <PresentationFormat>On-screen Show (4:3)</PresentationFormat>
  <Paragraphs>132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 MT</vt:lpstr>
      <vt:lpstr>Calibri</vt:lpstr>
      <vt:lpstr>Cambria</vt:lpstr>
      <vt:lpstr>Wingdings</vt:lpstr>
      <vt:lpstr>Office Theme</vt:lpstr>
      <vt:lpstr>PowerPoint Presentation</vt:lpstr>
      <vt:lpstr>Konsep Algoritma Apriori</vt:lpstr>
      <vt:lpstr>Konsep Algoritma Apriori</vt:lpstr>
      <vt:lpstr>Konsep Algoritma Apriori</vt:lpstr>
      <vt:lpstr>Contoh Penerapan Asosiasi</vt:lpstr>
      <vt:lpstr>Contoh Penerapan Asosiasi</vt:lpstr>
      <vt:lpstr>Istilah-istilah yang Terdapat pada  Association Rule</vt:lpstr>
      <vt:lpstr>Istilah-istilah yang Terdapat pada  Association Rule</vt:lpstr>
      <vt:lpstr>Istilah-istilah yang Terdapat pada  Association Rule</vt:lpstr>
      <vt:lpstr>Cara Kerja Apriori</vt:lpstr>
      <vt:lpstr>Formula Pencarian Nilai Support  &amp; Confidence</vt:lpstr>
      <vt:lpstr>Formula Pencarian Nilai Support  &amp; Confidence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Contoh Apriori pada Studi Kasus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Algoritma Apriori  : Association Rule pada Data Mining</dc:title>
  <dc:creator>Dedi Darwis</dc:creator>
  <cp:lastModifiedBy>Hafizhah Mardivta</cp:lastModifiedBy>
  <cp:revision>1</cp:revision>
  <dcterms:created xsi:type="dcterms:W3CDTF">2024-09-29T13:36:47Z</dcterms:created>
  <dcterms:modified xsi:type="dcterms:W3CDTF">2024-09-30T07:27:53Z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2024-09-29T00:00:00Z</vt:filetime>
  </property>
</Properties>
</file>